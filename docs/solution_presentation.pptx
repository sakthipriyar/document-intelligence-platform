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868680"/>
            <a:ext cx="118872" cy="3913632"/>
          </a:xfrm>
          <a:prstGeom prst="rect">
            <a:avLst/>
          </a:prstGeom>
          <a:solidFill>
            <a:srgbClr val="C48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932688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B9E1D6"/>
                </a:solidFill>
                <a:latin typeface="Aptos"/>
              </a:rPr>
              <a:t>AI ENGINEER INTERNSHIP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81328"/>
            <a:ext cx="804672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Document Intelligence
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127248"/>
            <a:ext cx="77724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D8EAE5"/>
                </a:solidFill>
                <a:latin typeface="Aptos"/>
              </a:rPr>
              <a:t>End-to-end extraction, validation and reconciliation for financial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4736592"/>
            <a:ext cx="1463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A9C4BE"/>
                </a:solidFill>
                <a:latin typeface="Aptos"/>
              </a:rPr>
              <a:t>Live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001768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document-intelligence-platform-kace.onrender.com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5998464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9C4BE"/>
                </a:solidFill>
                <a:latin typeface="Aptos"/>
              </a:rPr>
              <a:t>FastAPI  |  Gemini vision  |  Evidence-backed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5998464"/>
            <a:ext cx="640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B9E1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CASE-STUDY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07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C32"/>
                </a:solidFill>
                <a:latin typeface="Aptos"/>
              </a:rPr>
              <a:t>Objective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6428232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02  |  DOCUMENT INTELLIGENCE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0972800" cy="13716"/>
          </a:xfrm>
          <a:prstGeom prst="rect">
            <a:avLst/>
          </a:prstGeom>
          <a:solidFill>
            <a:srgbClr val="D6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572768"/>
            <a:ext cx="103327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66767A"/>
                </a:solidFill>
                <a:latin typeface="Aptos"/>
              </a:rPr>
              <a:t>A reviewable pipeline for turning mixed financial documents into traceable, validated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6060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54864" cy="1508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313432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C32"/>
                </a:solidFill>
                <a:latin typeface="Aptos"/>
              </a:rPr>
              <a:t>4 document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70048"/>
            <a:ext cx="22860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6767A"/>
                </a:solidFill>
                <a:latin typeface="Aptos"/>
              </a:rPr>
              <a:t>Invoice, balance sheet, profit and loss, and cash-flow statement.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2148840"/>
            <a:ext cx="26060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2148840"/>
            <a:ext cx="54864" cy="1508760"/>
          </a:xfrm>
          <a:prstGeom prst="rect">
            <a:avLst/>
          </a:prstGeom>
          <a:solidFill>
            <a:srgbClr val="C48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2313432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C32"/>
                </a:solidFill>
                <a:latin typeface="Aptos"/>
              </a:rPr>
              <a:t>Safe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670048"/>
            <a:ext cx="22860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6767A"/>
                </a:solidFill>
                <a:latin typeface="Aptos"/>
              </a:rPr>
              <a:t>PDF, JPG/JPEG and PNG; validated from bytes with a three-page limit.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2148840"/>
            <a:ext cx="26060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2784" y="2148840"/>
            <a:ext cx="54864" cy="1508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313432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C32"/>
                </a:solidFill>
                <a:latin typeface="Aptos"/>
              </a:rPr>
              <a:t>Traceable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670048"/>
            <a:ext cx="22860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6767A"/>
                </a:solidFill>
                <a:latin typeface="Aptos"/>
              </a:rPr>
              <a:t>Fields, table values, source snippets and page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9136" y="2148840"/>
            <a:ext cx="26060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89136" y="2148840"/>
            <a:ext cx="54864" cy="1508760"/>
          </a:xfrm>
          <a:prstGeom prst="rect">
            <a:avLst/>
          </a:prstGeom>
          <a:solidFill>
            <a:srgbClr val="C48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2015" y="2313432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C32"/>
                </a:solidFill>
                <a:latin typeface="Aptos"/>
              </a:rPr>
              <a:t>Arithmetic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5" y="2670048"/>
            <a:ext cx="22860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6767A"/>
                </a:solidFill>
                <a:latin typeface="Aptos"/>
              </a:rPr>
              <a:t>Document-type formulas with tolerance and explicit statuses.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24528"/>
            <a:ext cx="2103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Aptos"/>
              </a:rPr>
              <a:t>Design principles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590288"/>
            <a:ext cx="10241280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• Do not hallucinate: absent or unreadable values stay null.</a:t>
            </a:r>
          </a:p>
          <a:p>
            <a:pPr>
              <a:spcAft>
                <a:spcPts val="800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• Reject invalid files before OCR or paid AI work.</a:t>
            </a:r>
          </a:p>
          <a:p>
            <a:pPr>
              <a:spcAft>
                <a:spcPts val="800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• Keep asynchronous processing visible to the user.</a:t>
            </a:r>
          </a:p>
          <a:p>
            <a:pPr>
              <a:spcAft>
                <a:spcPts val="800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• Expose the same structured result through the dashboard and 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MODULAR 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07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C32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6428232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03  |  DOCUMENT INTELLIGENCE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0972800" cy="13716"/>
          </a:xfrm>
          <a:prstGeom prst="rect">
            <a:avLst/>
          </a:prstGeom>
          <a:solidFill>
            <a:srgbClr val="D6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72768"/>
            <a:ext cx="6629400" cy="42697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91640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Aptos"/>
              </a:rPr>
              <a:t>Request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03120"/>
            <a:ext cx="3886200" cy="2423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224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Browser dashboard</a:t>
            </a:r>
          </a:p>
          <a:p>
            <a:pPr>
              <a:spcAft>
                <a:spcPts val="224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        -&gt; FastAPI REST API</a:t>
            </a:r>
          </a:p>
          <a:p>
            <a:pPr>
              <a:spcAft>
                <a:spcPts val="224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        -&gt; validation and OCR</a:t>
            </a:r>
          </a:p>
          <a:p>
            <a:pPr>
              <a:spcAft>
                <a:spcPts val="224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        -&gt; Gemini vision extraction</a:t>
            </a:r>
          </a:p>
          <a:p>
            <a:pPr>
              <a:spcAft>
                <a:spcPts val="224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        -&gt; financial validation</a:t>
            </a:r>
          </a:p>
          <a:p>
            <a:pPr>
              <a:spcAft>
                <a:spcPts val="224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        -&gt; repository and database</a:t>
            </a:r>
          </a:p>
          <a:p>
            <a:pPr>
              <a:spcAft>
                <a:spcPts val="224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        -&gt; dashboard / API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2103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Aptos"/>
              </a:rPr>
              <a:t>Service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102352"/>
            <a:ext cx="3840480" cy="1051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6767A"/>
                </a:solidFill>
                <a:latin typeface="Aptos"/>
              </a:defRPr>
            </a:pPr>
            <a:r>
              <a:t>• document_validation_service.py</a:t>
            </a:r>
          </a:p>
          <a:p>
            <a:pPr>
              <a:spcAft>
                <a:spcPts val="800"/>
              </a:spcAft>
              <a:defRPr sz="1200">
                <a:solidFill>
                  <a:srgbClr val="66767A"/>
                </a:solidFill>
                <a:latin typeface="Aptos"/>
              </a:defRPr>
            </a:pPr>
            <a:r>
              <a:t>• ocr_service.py and extraction_service.py</a:t>
            </a:r>
          </a:p>
          <a:p>
            <a:pPr>
              <a:spcAft>
                <a:spcPts val="800"/>
              </a:spcAft>
              <a:defRPr sz="1200">
                <a:solidFill>
                  <a:srgbClr val="66767A"/>
                </a:solidFill>
                <a:latin typeface="Aptos"/>
              </a:defRPr>
            </a:pPr>
            <a:r>
              <a:t>• financial_validation_service.py</a:t>
            </a:r>
          </a:p>
          <a:p>
            <a:pPr>
              <a:spcAft>
                <a:spcPts val="800"/>
              </a:spcAft>
              <a:defRPr sz="1200">
                <a:solidFill>
                  <a:srgbClr val="66767A"/>
                </a:solidFill>
                <a:latin typeface="Aptos"/>
              </a:defRPr>
            </a:pPr>
            <a:r>
              <a:t>• document_repository.py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BEFORE THE AI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07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C32"/>
                </a:solidFill>
                <a:latin typeface="Aptos"/>
              </a:rPr>
              <a:t>Validation, OCR and input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6428232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04  |  DOCUMENT INTELLIGENCE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0972800" cy="13716"/>
          </a:xfrm>
          <a:prstGeom prst="rect">
            <a:avLst/>
          </a:prstGeom>
          <a:solidFill>
            <a:srgbClr val="D6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4864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56232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C32"/>
                </a:solidFill>
                <a:latin typeface="Aptos"/>
              </a:rPr>
              <a:t>1. Validate bytes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12848"/>
            <a:ext cx="31089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6767A"/>
                </a:solidFill>
                <a:latin typeface="Aptos"/>
              </a:rPr>
              <a:t>Detect file signatures, MIME/type, integrity, readability, page count and size.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91640"/>
            <a:ext cx="54864" cy="1417320"/>
          </a:xfrm>
          <a:prstGeom prst="rect">
            <a:avLst/>
          </a:prstGeom>
          <a:solidFill>
            <a:srgbClr val="C48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856232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C32"/>
                </a:solidFill>
                <a:latin typeface="Aptos"/>
              </a:rPr>
              <a:t>2. Extract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212848"/>
            <a:ext cx="31089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6767A"/>
                </a:solidFill>
                <a:latin typeface="Aptos"/>
              </a:rPr>
              <a:t>Use PDF text when available; rasterize scanned pages with PyMuPDF and Tesseract.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69164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691640"/>
            <a:ext cx="54864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3" y="1856232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C32"/>
                </a:solidFill>
                <a:latin typeface="Aptos"/>
              </a:rPr>
              <a:t>3. Preserve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2212848"/>
            <a:ext cx="31089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6767A"/>
                </a:solidFill>
                <a:latin typeface="Aptos"/>
              </a:rPr>
              <a:t>Normalize page-tagged text and images so every field can point back to a page.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A84232"/>
                </a:solidFill>
                <a:latin typeface="Aptos"/>
              </a:rPr>
              <a:t>Rejected early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96512"/>
            <a:ext cx="4983480" cy="13898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• Unsupported extensions or content types</a:t>
            </a:r>
          </a:p>
          <a:p>
            <a:pPr>
              <a:spcAft>
                <a:spcPts val="800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• Empty, corrupt or unreadable files</a:t>
            </a:r>
          </a:p>
          <a:p>
            <a:pPr>
              <a:spcAft>
                <a:spcPts val="800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• Documents above 15 MB or more than 3 pages</a:t>
            </a:r>
          </a:p>
          <a:p>
            <a:pPr>
              <a:spcAft>
                <a:spcPts val="800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• Invalid PDF/image content before OCR begins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730752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Aptos"/>
              </a:rPr>
              <a:t>Supported upload 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096512"/>
            <a:ext cx="4709160" cy="1463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224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PDF  |  JPG / JPEG  |  PNG</a:t>
            </a:r>
          </a:p>
          <a:p>
            <a:pPr>
              <a:spcAft>
                <a:spcPts val="224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Maximum 3 pages  |  Maximum 15 MB</a:t>
            </a:r>
          </a:p>
          <a:p>
            <a:pPr>
              <a:spcAft>
                <a:spcPts val="224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Processing states: PROCESSING -&gt; PASS / FAILED</a:t>
            </a:r>
          </a:p>
          <a:p>
            <a:pPr>
              <a:spcAft>
                <a:spcPts val="224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Page number and source snippet per extracted field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CURRENT GEMINI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07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C32"/>
                </a:solidFill>
                <a:latin typeface="Aptos"/>
              </a:rPr>
              <a:t>Evidence-backed AI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6428232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05  |  DOCUMENT INTELLIGENCE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0972800" cy="13716"/>
          </a:xfrm>
          <a:prstGeom prst="rect">
            <a:avLst/>
          </a:prstGeom>
          <a:solidFill>
            <a:srgbClr val="D6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4241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66767A"/>
                </a:solidFill>
                <a:latin typeface="Aptos"/>
              </a:rPr>
              <a:t>The model is used for reading and structuring the document, not for inventing accounting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42900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54864" cy="1965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313432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C32"/>
                </a:solidFill>
                <a:latin typeface="Aptos"/>
              </a:rPr>
              <a:t>Structured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70048"/>
            <a:ext cx="310896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6767A"/>
                </a:solidFill>
                <a:latin typeface="Aptos"/>
              </a:rPr>
              <a:t>google-genai SDK with a stable extracted_data envelope, line items, evidence and confidence.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148840"/>
            <a:ext cx="342900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148840"/>
            <a:ext cx="54864" cy="1965960"/>
          </a:xfrm>
          <a:prstGeom prst="rect">
            <a:avLst/>
          </a:prstGeom>
          <a:solidFill>
            <a:srgbClr val="C48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313432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C32"/>
                </a:solidFill>
                <a:latin typeface="Aptos"/>
              </a:rPr>
              <a:t>Vision + text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670048"/>
            <a:ext cx="310896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6767A"/>
                </a:solidFill>
                <a:latin typeface="Aptos"/>
              </a:rPr>
              <a:t>Normalized page images plus page-tagged OCR/text are supplied for layout-aware extraction.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148840"/>
            <a:ext cx="342900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2148840"/>
            <a:ext cx="54864" cy="1965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3" y="2313432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C32"/>
                </a:solidFill>
                <a:latin typeface="Aptos"/>
              </a:rPr>
              <a:t>Resilient responses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2670048"/>
            <a:ext cx="310896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6767A"/>
                </a:solidFill>
                <a:latin typeface="Aptos"/>
              </a:rPr>
              <a:t>Handles current response variants, empty output, JSON fences, retry and model fallback.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90288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Aptos"/>
              </a:rPr>
              <a:t>Guardrails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937760"/>
            <a:ext cx="10287000" cy="1051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• Missing or unreadable values return null.</a:t>
            </a:r>
          </a:p>
          <a:p>
            <a:pPr>
              <a:spcAft>
                <a:spcPts val="800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• Evidence includes source_text and page_number.</a:t>
            </a:r>
          </a:p>
          <a:p>
            <a:pPr>
              <a:spcAft>
                <a:spcPts val="800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• Comparative periods use explicit field__period keys.</a:t>
            </a:r>
          </a:p>
          <a:p>
            <a:pPr>
              <a:spcAft>
                <a:spcPts val="800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• Runtime key is configured through GEMINI_API_KEY and never committed.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TRANSPARENT ARITHMETIC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07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C32"/>
                </a:solidFill>
                <a:latin typeface="Aptos"/>
              </a:rPr>
              <a:t>Financial validation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6428232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06  |  DOCUMENT INTELLIGENCE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0972800" cy="13716"/>
          </a:xfrm>
          <a:prstGeom prst="rect">
            <a:avLst/>
          </a:prstGeom>
          <a:solidFill>
            <a:srgbClr val="D6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66767A"/>
                </a:solidFill>
                <a:latin typeface="Aptos"/>
              </a:rPr>
              <a:t>Each check records its operands, formula, calculated value, reported value, variance and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10881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54864" cy="6583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313432"/>
            <a:ext cx="10561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C32"/>
                </a:solidFill>
                <a:latin typeface="Aptos"/>
              </a:rPr>
              <a:t>Invoice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70048"/>
            <a:ext cx="10561320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66767A"/>
                </a:solidFill>
                <a:latin typeface="Aptos"/>
              </a:rPr>
              <a:t>subtotal + tax - discount = total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53512"/>
            <a:ext cx="10881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953512"/>
            <a:ext cx="54864" cy="658368"/>
          </a:xfrm>
          <a:prstGeom prst="rect">
            <a:avLst/>
          </a:prstGeom>
          <a:solidFill>
            <a:srgbClr val="C48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118104"/>
            <a:ext cx="10561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C32"/>
                </a:solidFill>
                <a:latin typeface="Aptos"/>
              </a:rPr>
              <a:t>Balance sheet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474720"/>
            <a:ext cx="10561320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66767A"/>
                </a:solidFill>
                <a:latin typeface="Aptos"/>
              </a:rPr>
              <a:t>liabilities + equity = assets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58184"/>
            <a:ext cx="10881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58184"/>
            <a:ext cx="54864" cy="6583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922776"/>
            <a:ext cx="10561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C32"/>
                </a:solidFill>
                <a:latin typeface="Aptos"/>
              </a:rPr>
              <a:t>Profit and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279392"/>
            <a:ext cx="10561320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66767A"/>
                </a:solidFill>
                <a:latin typeface="Aptos"/>
              </a:rPr>
              <a:t>revenue - cost of sales = gross profit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62856"/>
            <a:ext cx="10881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562856"/>
            <a:ext cx="54864" cy="658368"/>
          </a:xfrm>
          <a:prstGeom prst="rect">
            <a:avLst/>
          </a:prstGeom>
          <a:solidFill>
            <a:srgbClr val="C48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727448"/>
            <a:ext cx="10561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C32"/>
                </a:solidFill>
                <a:latin typeface="Aptos"/>
              </a:rPr>
              <a:t>Cash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5084064"/>
            <a:ext cx="10561320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66767A"/>
                </a:solidFill>
                <a:latin typeface="Aptos"/>
              </a:rPr>
              <a:t>operating + investing + financing + FX = net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96128"/>
            <a:ext cx="1600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Aptos"/>
              </a:rPr>
              <a:t>Status 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1952" y="5596128"/>
            <a:ext cx="92354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02C32"/>
                </a:solidFill>
                <a:latin typeface="Aptos"/>
              </a:rPr>
              <a:t>PASS within rounding tolerance  |  FAIL when operands disagree  |  NOT_APPLICABLE when inputs are missing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REVIEWABLE BY A HUMAN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07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C32"/>
                </a:solidFill>
                <a:latin typeface="Aptos"/>
              </a:rPr>
              <a:t>Product experience and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6428232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07  |  DOCUMENT INTELLIGENCE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0972800" cy="13716"/>
          </a:xfrm>
          <a:prstGeom prst="rect">
            <a:avLst/>
          </a:prstGeom>
          <a:solidFill>
            <a:srgbClr val="D6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42900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4864" cy="187451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56232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C32"/>
                </a:solidFill>
                <a:latin typeface="Aptos"/>
              </a:rPr>
              <a:t>Ledger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12848"/>
            <a:ext cx="3108960" cy="1234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6767A"/>
                </a:solidFill>
                <a:latin typeface="Aptos"/>
              </a:rPr>
              <a:t>Responsive upload workflow, search, filters, statistics and refresh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42900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91640"/>
            <a:ext cx="54864" cy="1874519"/>
          </a:xfrm>
          <a:prstGeom prst="rect">
            <a:avLst/>
          </a:prstGeom>
          <a:solidFill>
            <a:srgbClr val="C48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856232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C32"/>
                </a:solidFill>
                <a:latin typeface="Aptos"/>
              </a:rPr>
              <a:t>Document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212848"/>
            <a:ext cx="3108960" cy="1234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6767A"/>
                </a:solidFill>
                <a:latin typeface="Aptos"/>
              </a:rPr>
              <a:t>Centered detail view with Fields, Validation and Raw JSON tabs; missing and low-confidence values are marked.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691640"/>
            <a:ext cx="342900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691640"/>
            <a:ext cx="54864" cy="187451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3" y="1856232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C32"/>
                </a:solidFill>
                <a:latin typeface="Aptos"/>
              </a:rPr>
              <a:t>Async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2212848"/>
            <a:ext cx="3108960" cy="1234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6767A"/>
                </a:solidFill>
                <a:latin typeface="Aptos"/>
              </a:rPr>
              <a:t>POST returns a processing record; the browser polls until PASS or FAILED and shows the exact failure.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69080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Aptos"/>
              </a:rPr>
              <a:t>Mandatory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434840"/>
            <a:ext cx="5760720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224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POST  /api/v1/documents/process</a:t>
            </a:r>
          </a:p>
          <a:p>
            <a:pPr>
              <a:spcAft>
                <a:spcPts val="224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GET   /api/v1/documents/{document_name}</a:t>
            </a:r>
          </a:p>
          <a:p>
            <a:pPr>
              <a:spcAft>
                <a:spcPts val="224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GET   /api/v1/documents</a:t>
            </a:r>
          </a:p>
          <a:p>
            <a:pPr>
              <a:spcAft>
                <a:spcPts val="224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GET   /api/v1/health</a:t>
            </a:r>
          </a:p>
          <a:p>
            <a:pPr>
              <a:spcAft>
                <a:spcPts val="224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GET   /docs  and  /redoc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3" y="4069080"/>
            <a:ext cx="2560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Aptos"/>
              </a:rPr>
              <a:t>One response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4434840"/>
            <a:ext cx="3310128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02C32"/>
                </a:solidFill>
                <a:latin typeface="Aptos"/>
              </a:rPr>
              <a:t>The API and UI share the same persisted document, extracted fields, line items, validation checks and raw JSON.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EVIDENCE OF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07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C32"/>
                </a:solidFill>
                <a:latin typeface="Aptos"/>
              </a:rPr>
              <a:t>Verification and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6428232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08  |  DOCUMENT INTELLIGENCE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0972800" cy="13716"/>
          </a:xfrm>
          <a:prstGeom prst="rect">
            <a:avLst/>
          </a:prstGeom>
          <a:solidFill>
            <a:srgbClr val="D6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46888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92807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0F766E"/>
                </a:solidFill>
                <a:latin typeface="Apto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59152"/>
            <a:ext cx="2194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6767A"/>
                </a:solidFill>
                <a:latin typeface="Aptos"/>
              </a:rPr>
              <a:t>AUTOMATED TESTS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737360"/>
            <a:ext cx="246888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892807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C48A38"/>
                </a:solidFill>
                <a:latin typeface="Aptos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359152"/>
            <a:ext cx="2194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6767A"/>
                </a:solidFill>
                <a:latin typeface="Aptos"/>
              </a:rPr>
              <a:t>LIVE FIELDS EXTRACTED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246888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892807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0F766E"/>
                </a:solidFill>
                <a:latin typeface="Aptos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359152"/>
            <a:ext cx="2194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6767A"/>
                </a:solidFill>
                <a:latin typeface="Aptos"/>
              </a:rPr>
              <a:t>LIVE LINE ITEMS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737360"/>
            <a:ext cx="265176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1892807"/>
            <a:ext cx="2377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C48A38"/>
                </a:solidFill>
                <a:latin typeface="Aptos"/>
              </a:rPr>
              <a:t>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2359152"/>
            <a:ext cx="23774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6767A"/>
                </a:solidFill>
                <a:latin typeface="Aptos"/>
              </a:rPr>
              <a:t>FRESH LIVE INVOICE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4612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Aptos"/>
              </a:rPr>
              <a:t>Deployment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11880"/>
            <a:ext cx="6629400" cy="187451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• Public Render frontend is live.</a:t>
            </a:r>
          </a:p>
          <a:p>
            <a:pPr>
              <a:spcAft>
                <a:spcPts val="800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• /api/v1/health reports service status and Gemini configuration.</a:t>
            </a:r>
          </a:p>
          <a:p>
            <a:pPr>
              <a:spcAft>
                <a:spcPts val="800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• Swagger/OpenAPI is available at /docs.</a:t>
            </a:r>
          </a:p>
          <a:p>
            <a:pPr>
              <a:spcAft>
                <a:spcPts val="800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• Fresh live invoice verification returned file validation PASS and processing PASS.</a:t>
            </a:r>
          </a:p>
          <a:p>
            <a:pPr>
              <a:spcAft>
                <a:spcPts val="800"/>
              </a:spcAft>
              <a:defRPr sz="1500">
                <a:solidFill>
                  <a:srgbClr val="102C32"/>
                </a:solidFill>
                <a:latin typeface="Aptos"/>
              </a:defRPr>
            </a:pPr>
            <a:r>
              <a:t>• Sample JSON fixtures cover all four document types and failure paths.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46120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Aptos"/>
              </a:rPr>
              <a:t>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611880"/>
            <a:ext cx="27432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2C32"/>
                </a:solidFill>
                <a:latin typeface="Aptos"/>
              </a:rPr>
              <a:t>github.com/SakthiPriyaR/
document-intelligence-platform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645152"/>
            <a:ext cx="27432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6767A"/>
                </a:solidFill>
                <a:latin typeface="Aptos"/>
              </a:rPr>
              <a:t>No secrets committed; runtime key is supplied by the deployment environment.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WHAT CHANGES BEYOND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07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C32"/>
                </a:solidFill>
                <a:latin typeface="Aptos"/>
              </a:rPr>
              <a:t>Limitations and production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6428232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09  |  DOCUMENT INTELLIGENCE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0972800" cy="13716"/>
          </a:xfrm>
          <a:prstGeom prst="rect">
            <a:avLst/>
          </a:prstGeom>
          <a:solidFill>
            <a:srgbClr val="D6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332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66767A"/>
                </a:solidFill>
                <a:latin typeface="Aptos"/>
              </a:rPr>
              <a:t>The evaluation deployment is intentionally small; the seams for production hardening are explicit.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516636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54864" cy="2423160"/>
          </a:xfrm>
          <a:prstGeom prst="rect">
            <a:avLst/>
          </a:prstGeom>
          <a:solidFill>
            <a:srgbClr val="A84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313432"/>
            <a:ext cx="4846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C32"/>
                </a:solidFill>
                <a:latin typeface="Aptos"/>
              </a:rPr>
              <a:t>Current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70048"/>
            <a:ext cx="4846320" cy="1783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66767A"/>
                </a:solidFill>
                <a:latin typeface="Aptos"/>
              </a:rPr>
              <a:t>Render Free local SQLite storage is ephemeral.
No authentication or rate limiting.
Large dense documents may need chunked extraction.
Model confidence is not independently calibrated.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148840"/>
            <a:ext cx="539496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2148840"/>
            <a:ext cx="54864" cy="2423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313432"/>
            <a:ext cx="5074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C32"/>
                </a:solidFill>
                <a:latin typeface="Aptos"/>
              </a:rPr>
              <a:t>Production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70048"/>
            <a:ext cx="5074920" cy="1783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66767A"/>
                </a:solidFill>
                <a:latin typeface="Aptos"/>
              </a:rPr>
              <a:t>Managed Postgres and object storage.
Durable worker queue and observability.
Authentication, tenant isolation and quotas.
Golden-document evaluations and reconciliation expansion.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38928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C48A38"/>
                </a:solidFill>
                <a:latin typeface="Aptos"/>
              </a:rPr>
              <a:t>Important distinction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486400"/>
            <a:ext cx="10332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102C32"/>
                </a:solidFill>
                <a:latin typeface="Aptos"/>
              </a:rPr>
              <a:t>The current live extraction flow works; durable history requires a persistent database plan.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TRANSPARENT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07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C32"/>
                </a:solidFill>
                <a:latin typeface="Aptos"/>
              </a:rPr>
              <a:t>AI usage and submission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6428232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10  |  DOCUMENT INTELLIGENCE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0972800" cy="13716"/>
          </a:xfrm>
          <a:prstGeom prst="rect">
            <a:avLst/>
          </a:prstGeom>
          <a:solidFill>
            <a:srgbClr val="D6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16636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4864" cy="2971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56232"/>
            <a:ext cx="4846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C32"/>
                </a:solidFill>
                <a:latin typeface="Aptos"/>
              </a:rPr>
              <a:t>AI usage declaration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12848"/>
            <a:ext cx="4846320" cy="2331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66767A"/>
                </a:solidFill>
                <a:latin typeface="Aptos"/>
              </a:rPr>
              <a:t>An AI coding assistant supported the initial scaffold, service boundaries, validation engine, frontend, tests, documentation and this presentation.
The source was reviewed and locally test-verified. Gemini is used at runtime only for evidence-backed field extraction after explicit configuration.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91640"/>
            <a:ext cx="539496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691640"/>
            <a:ext cx="54864" cy="2971800"/>
          </a:xfrm>
          <a:prstGeom prst="rect">
            <a:avLst/>
          </a:prstGeom>
          <a:solidFill>
            <a:srgbClr val="C48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856232"/>
            <a:ext cx="5074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C32"/>
                </a:solidFill>
                <a:latin typeface="Aptos"/>
              </a:rPr>
              <a:t>Included in the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12848"/>
            <a:ext cx="5074920" cy="2331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66767A"/>
                </a:solidFill>
                <a:latin typeface="Aptos"/>
              </a:rPr>
              <a:t>Public GitHub source
Live frontend, API and Swagger
README with setup and limitations
Architecture source plus PNG/PDF exports
This solution presentation in PPTX/PDF/Markdown
Sample fixtures and automated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21808"/>
            <a:ext cx="21945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0F766E"/>
                </a:solidFill>
                <a:latin typeface="Aptos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806440"/>
            <a:ext cx="69494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102C32"/>
                </a:solidFill>
                <a:latin typeface="Aptos"/>
              </a:rPr>
              <a:t>Live app: document-intelligence-platform-kace.onrender.com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