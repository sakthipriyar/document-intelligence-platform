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document-intelligence-platform-kace.onrender.com/api/v1" TargetMode="External"/><Relationship Id="rId3" Type="http://schemas.openxmlformats.org/officeDocument/2006/relationships/hyperlink" Target="https://document-intelligence-platform-kace.onrender.com/" TargetMode="External"/><Relationship Id="rId4" Type="http://schemas.openxmlformats.org/officeDocument/2006/relationships/hyperlink" Target="https://github.com/SakthiPriyaR/document-intelligence-platform" TargetMode="External"/><Relationship Id="rId5" Type="http://schemas.openxmlformats.org/officeDocument/2006/relationships/hyperlink" Target="https://github.com/SakthiPriyaR/document-intelligence-platform/blob/main/docs/solution_presentation.pptx" TargetMode="Externa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2C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58368" y="868680"/>
            <a:ext cx="118872" cy="3913632"/>
          </a:xfrm>
          <a:prstGeom prst="rect">
            <a:avLst/>
          </a:prstGeom>
          <a:solidFill>
            <a:srgbClr val="C48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87552" y="932688"/>
            <a:ext cx="594360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B9E1D6"/>
                </a:solidFill>
                <a:latin typeface="Aptos"/>
              </a:rPr>
              <a:t>AI ENGINEER INTERNSHIP CASE STUDY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1481328"/>
            <a:ext cx="8046720" cy="1325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Aptos"/>
              </a:rPr>
              <a:t>Document Intelligence
Platform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7552" y="3127248"/>
            <a:ext cx="777240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00" b="0">
                <a:solidFill>
                  <a:srgbClr val="D8EAE5"/>
                </a:solidFill>
                <a:latin typeface="Aptos"/>
              </a:rPr>
              <a:t>End-to-end extraction, validation and reconciliation for financial documents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87552" y="4736592"/>
            <a:ext cx="146304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A9C4BE"/>
                </a:solidFill>
                <a:latin typeface="Aptos"/>
              </a:rPr>
              <a:t>Live application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87552" y="5001768"/>
            <a:ext cx="594360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Aptos"/>
              </a:rPr>
              <a:t>document-intelligence-platform-kace.onrender.com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87552" y="5998464"/>
            <a:ext cx="68580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0">
                <a:solidFill>
                  <a:srgbClr val="A9C4BE"/>
                </a:solidFill>
                <a:latin typeface="Aptos"/>
              </a:rPr>
              <a:t>FastAPI  |  Gemini vision  |  Evidence-backed JSON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35640" y="5998464"/>
            <a:ext cx="64008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1200" b="1">
                <a:solidFill>
                  <a:srgbClr val="B9E1D6"/>
                </a:solidFill>
                <a:latin typeface="Aptos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47472"/>
            <a:ext cx="50292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00" b="1">
                <a:solidFill>
                  <a:srgbClr val="0F766E"/>
                </a:solidFill>
                <a:latin typeface="Aptos"/>
              </a:rPr>
              <a:t>CASE-STUDY REQUIREMENTS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40080"/>
            <a:ext cx="10607040" cy="47548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700" b="1">
                <a:solidFill>
                  <a:srgbClr val="102C32"/>
                </a:solidFill>
                <a:latin typeface="Aptos"/>
              </a:rPr>
              <a:t>Objective and scope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41080" y="6428232"/>
            <a:ext cx="292608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1">
                <a:solidFill>
                  <a:srgbClr val="66767A"/>
                </a:solidFill>
                <a:latin typeface="Aptos"/>
              </a:rPr>
              <a:t>02  |  DOCUMENT INTELLIGENCE PLATFORM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307592"/>
            <a:ext cx="10972800" cy="13716"/>
          </a:xfrm>
          <a:prstGeom prst="rect">
            <a:avLst/>
          </a:prstGeom>
          <a:solidFill>
            <a:srgbClr val="D6E1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21792" y="1572768"/>
            <a:ext cx="10332720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600" b="0">
                <a:solidFill>
                  <a:srgbClr val="66767A"/>
                </a:solidFill>
                <a:latin typeface="Aptos"/>
              </a:rPr>
              <a:t>A reviewable pipeline for turning mixed financial documents into traceable, validated data.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148840"/>
            <a:ext cx="2606040" cy="150876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6E1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2148840"/>
            <a:ext cx="54864" cy="150876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59" y="2313432"/>
            <a:ext cx="228600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1">
                <a:solidFill>
                  <a:srgbClr val="102C32"/>
                </a:solidFill>
                <a:latin typeface="Aptos"/>
              </a:rPr>
              <a:t>4 document types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2670048"/>
            <a:ext cx="2286000" cy="8686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0">
                <a:solidFill>
                  <a:srgbClr val="66767A"/>
                </a:solidFill>
                <a:latin typeface="Aptos"/>
              </a:rPr>
              <a:t>Invoice, balance sheet, profit and loss, and cash-flow statement.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56432" y="2148840"/>
            <a:ext cx="2606040" cy="150876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6E1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456432" y="2148840"/>
            <a:ext cx="54864" cy="1508760"/>
          </a:xfrm>
          <a:prstGeom prst="rect">
            <a:avLst/>
          </a:prstGeom>
          <a:solidFill>
            <a:srgbClr val="C48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39312" y="2313432"/>
            <a:ext cx="228600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1">
                <a:solidFill>
                  <a:srgbClr val="102C32"/>
                </a:solidFill>
                <a:latin typeface="Aptos"/>
              </a:rPr>
              <a:t>Safe inputs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39312" y="2670048"/>
            <a:ext cx="2286000" cy="8686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0">
                <a:solidFill>
                  <a:srgbClr val="66767A"/>
                </a:solidFill>
                <a:latin typeface="Aptos"/>
              </a:rPr>
              <a:t>PDF, JPG/JPEG and PNG; validated from bytes with a three-page limit.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72784" y="2148840"/>
            <a:ext cx="2606040" cy="150876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6E1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72784" y="2148840"/>
            <a:ext cx="54864" cy="150876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55664" y="2313432"/>
            <a:ext cx="228600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1">
                <a:solidFill>
                  <a:srgbClr val="102C32"/>
                </a:solidFill>
                <a:latin typeface="Aptos"/>
              </a:rPr>
              <a:t>Traceable output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55664" y="2670048"/>
            <a:ext cx="2286000" cy="8686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0">
                <a:solidFill>
                  <a:srgbClr val="66767A"/>
                </a:solidFill>
                <a:latin typeface="Aptos"/>
              </a:rPr>
              <a:t>Fields, table values, source snippets and page evidence.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089136" y="2148840"/>
            <a:ext cx="2606040" cy="150876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6E1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9089136" y="2148840"/>
            <a:ext cx="54864" cy="1508760"/>
          </a:xfrm>
          <a:prstGeom prst="rect">
            <a:avLst/>
          </a:prstGeom>
          <a:solidFill>
            <a:srgbClr val="C48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272015" y="2313432"/>
            <a:ext cx="228600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1">
                <a:solidFill>
                  <a:srgbClr val="102C32"/>
                </a:solidFill>
                <a:latin typeface="Aptos"/>
              </a:rPr>
              <a:t>Arithmetic checks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272015" y="2670048"/>
            <a:ext cx="2286000" cy="8686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0">
                <a:solidFill>
                  <a:srgbClr val="66767A"/>
                </a:solidFill>
                <a:latin typeface="Aptos"/>
              </a:rPr>
              <a:t>Document-type formulas with tolerance and explicit statuses.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4224528"/>
            <a:ext cx="210312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1">
                <a:solidFill>
                  <a:srgbClr val="0F766E"/>
                </a:solidFill>
                <a:latin typeface="Aptos"/>
              </a:rPr>
              <a:t>Design principles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8" y="4590288"/>
            <a:ext cx="10241280" cy="1417320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102C32"/>
                </a:solidFill>
                <a:latin typeface="Aptos"/>
              </a:defRPr>
            </a:pPr>
            <a:r>
              <a:t>• Do not hallucinate: absent or unreadable values stay null.</a:t>
            </a:r>
          </a:p>
          <a:p>
            <a:pPr>
              <a:spcAft>
                <a:spcPts val="800"/>
              </a:spcAft>
              <a:defRPr sz="1500">
                <a:solidFill>
                  <a:srgbClr val="102C32"/>
                </a:solidFill>
                <a:latin typeface="Aptos"/>
              </a:defRPr>
            </a:pPr>
            <a:r>
              <a:t>• Reject invalid files before OCR or paid AI work.</a:t>
            </a:r>
          </a:p>
          <a:p>
            <a:pPr>
              <a:spcAft>
                <a:spcPts val="800"/>
              </a:spcAft>
              <a:defRPr sz="1500">
                <a:solidFill>
                  <a:srgbClr val="102C32"/>
                </a:solidFill>
                <a:latin typeface="Aptos"/>
              </a:defRPr>
            </a:pPr>
            <a:r>
              <a:t>• Keep asynchronous processing visible to the user.</a:t>
            </a:r>
          </a:p>
          <a:p>
            <a:pPr>
              <a:spcAft>
                <a:spcPts val="800"/>
              </a:spcAft>
              <a:defRPr sz="1500">
                <a:solidFill>
                  <a:srgbClr val="102C32"/>
                </a:solidFill>
                <a:latin typeface="Aptos"/>
              </a:defRPr>
            </a:pPr>
            <a:r>
              <a:t>• Expose the same structured result through the dashboard and API.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47472"/>
            <a:ext cx="50292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00" b="1">
                <a:solidFill>
                  <a:srgbClr val="0F766E"/>
                </a:solidFill>
                <a:latin typeface="Aptos"/>
              </a:rPr>
              <a:t>MODULAR PROCESSING PIPELINE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40080"/>
            <a:ext cx="10607040" cy="47548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700" b="1">
                <a:solidFill>
                  <a:srgbClr val="102C32"/>
                </a:solidFill>
                <a:latin typeface="Aptos"/>
              </a:rPr>
              <a:t>System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41080" y="6428232"/>
            <a:ext cx="292608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1">
                <a:solidFill>
                  <a:srgbClr val="66767A"/>
                </a:solidFill>
                <a:latin typeface="Aptos"/>
              </a:rPr>
              <a:t>03  |  DOCUMENT INTELLIGENCE PLATFORM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307592"/>
            <a:ext cx="10972800" cy="13716"/>
          </a:xfrm>
          <a:prstGeom prst="rect">
            <a:avLst/>
          </a:prstGeom>
          <a:solidFill>
            <a:srgbClr val="D6E1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3480" y="1572768"/>
            <a:ext cx="6629400" cy="4269783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1691640"/>
            <a:ext cx="182880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1">
                <a:solidFill>
                  <a:srgbClr val="0F766E"/>
                </a:solidFill>
                <a:latin typeface="Aptos"/>
              </a:rPr>
              <a:t>Request flow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2103120"/>
            <a:ext cx="3886200" cy="2423160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>
              <a:spcAft>
                <a:spcPts val="224"/>
              </a:spcAft>
              <a:defRPr sz="1500">
                <a:solidFill>
                  <a:srgbClr val="102C32"/>
                </a:solidFill>
                <a:latin typeface="Aptos"/>
              </a:defRPr>
            </a:pPr>
            <a:r>
              <a:t>Browser dashboard</a:t>
            </a:r>
          </a:p>
          <a:p>
            <a:pPr>
              <a:spcAft>
                <a:spcPts val="224"/>
              </a:spcAft>
              <a:defRPr sz="1500">
                <a:solidFill>
                  <a:srgbClr val="102C32"/>
                </a:solidFill>
                <a:latin typeface="Aptos"/>
              </a:defRPr>
            </a:pPr>
            <a:r>
              <a:t>        -&gt; FastAPI REST API</a:t>
            </a:r>
          </a:p>
          <a:p>
            <a:pPr>
              <a:spcAft>
                <a:spcPts val="224"/>
              </a:spcAft>
              <a:defRPr sz="1500">
                <a:solidFill>
                  <a:srgbClr val="102C32"/>
                </a:solidFill>
                <a:latin typeface="Aptos"/>
              </a:defRPr>
            </a:pPr>
            <a:r>
              <a:t>        -&gt; validation and OCR</a:t>
            </a:r>
          </a:p>
          <a:p>
            <a:pPr>
              <a:spcAft>
                <a:spcPts val="224"/>
              </a:spcAft>
              <a:defRPr sz="1500">
                <a:solidFill>
                  <a:srgbClr val="102C32"/>
                </a:solidFill>
                <a:latin typeface="Aptos"/>
              </a:defRPr>
            </a:pPr>
            <a:r>
              <a:t>        -&gt; Gemini vision extraction</a:t>
            </a:r>
          </a:p>
          <a:p>
            <a:pPr>
              <a:spcAft>
                <a:spcPts val="224"/>
              </a:spcAft>
              <a:defRPr sz="1500">
                <a:solidFill>
                  <a:srgbClr val="102C32"/>
                </a:solidFill>
                <a:latin typeface="Aptos"/>
              </a:defRPr>
            </a:pPr>
            <a:r>
              <a:t>        -&gt; financial validation</a:t>
            </a:r>
          </a:p>
          <a:p>
            <a:pPr>
              <a:spcAft>
                <a:spcPts val="224"/>
              </a:spcAft>
              <a:defRPr sz="1500">
                <a:solidFill>
                  <a:srgbClr val="102C32"/>
                </a:solidFill>
                <a:latin typeface="Aptos"/>
              </a:defRPr>
            </a:pPr>
            <a:r>
              <a:t>        -&gt; repository and database</a:t>
            </a:r>
          </a:p>
          <a:p>
            <a:pPr>
              <a:spcAft>
                <a:spcPts val="224"/>
              </a:spcAft>
              <a:defRPr sz="1500">
                <a:solidFill>
                  <a:srgbClr val="102C32"/>
                </a:solidFill>
                <a:latin typeface="Aptos"/>
              </a:defRPr>
            </a:pPr>
            <a:r>
              <a:t>        -&gt; dashboard / API response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754880"/>
            <a:ext cx="210312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1">
                <a:solidFill>
                  <a:srgbClr val="0F766E"/>
                </a:solidFill>
                <a:latin typeface="Aptos"/>
              </a:rPr>
              <a:t>Service boundaries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5102352"/>
            <a:ext cx="3840480" cy="1051560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>
              <a:spcAft>
                <a:spcPts val="800"/>
              </a:spcAft>
              <a:defRPr sz="1200">
                <a:solidFill>
                  <a:srgbClr val="66767A"/>
                </a:solidFill>
                <a:latin typeface="Aptos"/>
              </a:defRPr>
            </a:pPr>
            <a:r>
              <a:t>• document_validation_service.py</a:t>
            </a:r>
          </a:p>
          <a:p>
            <a:pPr>
              <a:spcAft>
                <a:spcPts val="800"/>
              </a:spcAft>
              <a:defRPr sz="1200">
                <a:solidFill>
                  <a:srgbClr val="66767A"/>
                </a:solidFill>
                <a:latin typeface="Aptos"/>
              </a:defRPr>
            </a:pPr>
            <a:r>
              <a:t>• ocr_service.py and extraction_service.py</a:t>
            </a:r>
          </a:p>
          <a:p>
            <a:pPr>
              <a:spcAft>
                <a:spcPts val="800"/>
              </a:spcAft>
              <a:defRPr sz="1200">
                <a:solidFill>
                  <a:srgbClr val="66767A"/>
                </a:solidFill>
                <a:latin typeface="Aptos"/>
              </a:defRPr>
            </a:pPr>
            <a:r>
              <a:t>• financial_validation_service.py</a:t>
            </a:r>
          </a:p>
          <a:p>
            <a:pPr>
              <a:spcAft>
                <a:spcPts val="800"/>
              </a:spcAft>
              <a:defRPr sz="1200">
                <a:solidFill>
                  <a:srgbClr val="66767A"/>
                </a:solidFill>
                <a:latin typeface="Aptos"/>
              </a:defRPr>
            </a:pPr>
            <a:r>
              <a:t>• document_repository.py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47472"/>
            <a:ext cx="50292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00" b="1">
                <a:solidFill>
                  <a:srgbClr val="0F766E"/>
                </a:solidFill>
                <a:latin typeface="Aptos"/>
              </a:rPr>
              <a:t>BEFORE THE AI CALL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40080"/>
            <a:ext cx="10607040" cy="47548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700" b="1">
                <a:solidFill>
                  <a:srgbClr val="102C32"/>
                </a:solidFill>
                <a:latin typeface="Aptos"/>
              </a:rPr>
              <a:t>Validation, OCR and input safety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41080" y="6428232"/>
            <a:ext cx="292608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1">
                <a:solidFill>
                  <a:srgbClr val="66767A"/>
                </a:solidFill>
                <a:latin typeface="Aptos"/>
              </a:rPr>
              <a:t>04  |  DOCUMENT INTELLIGENCE PLATFORM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307592"/>
            <a:ext cx="10972800" cy="13716"/>
          </a:xfrm>
          <a:prstGeom prst="rect">
            <a:avLst/>
          </a:prstGeom>
          <a:solidFill>
            <a:srgbClr val="D6E1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" y="1691640"/>
            <a:ext cx="3429000" cy="141732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6E1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691640"/>
            <a:ext cx="54864" cy="141732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59" y="1856232"/>
            <a:ext cx="310896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1">
                <a:solidFill>
                  <a:srgbClr val="102C32"/>
                </a:solidFill>
                <a:latin typeface="Aptos"/>
              </a:rPr>
              <a:t>1. Validate bytes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59" y="2212848"/>
            <a:ext cx="3108960" cy="7772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0">
                <a:solidFill>
                  <a:srgbClr val="66767A"/>
                </a:solidFill>
                <a:latin typeface="Aptos"/>
              </a:rPr>
              <a:t>Detect file signatures, MIME/type, integrity, readability, page count and size.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70832" y="1691640"/>
            <a:ext cx="3429000" cy="141732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6E1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70832" y="1691640"/>
            <a:ext cx="54864" cy="1417320"/>
          </a:xfrm>
          <a:prstGeom prst="rect">
            <a:avLst/>
          </a:prstGeom>
          <a:solidFill>
            <a:srgbClr val="C48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53712" y="1856232"/>
            <a:ext cx="310896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1">
                <a:solidFill>
                  <a:srgbClr val="102C32"/>
                </a:solidFill>
                <a:latin typeface="Aptos"/>
              </a:rPr>
              <a:t>2. Extract text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53712" y="2212848"/>
            <a:ext cx="3108960" cy="7772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0">
                <a:solidFill>
                  <a:srgbClr val="66767A"/>
                </a:solidFill>
                <a:latin typeface="Aptos"/>
              </a:rPr>
              <a:t>Use PDF text when available; rasterize scanned pages with PyMuPDF and Tesseract.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01583" y="1691640"/>
            <a:ext cx="3429000" cy="141732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6E1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101583" y="1691640"/>
            <a:ext cx="54864" cy="141732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84463" y="1856232"/>
            <a:ext cx="310896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1">
                <a:solidFill>
                  <a:srgbClr val="102C32"/>
                </a:solidFill>
                <a:latin typeface="Aptos"/>
              </a:rPr>
              <a:t>3. Preserve evidence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84463" y="2212848"/>
            <a:ext cx="3108960" cy="7772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0">
                <a:solidFill>
                  <a:srgbClr val="66767A"/>
                </a:solidFill>
                <a:latin typeface="Aptos"/>
              </a:rPr>
              <a:t>Normalize page-tagged text and images so every field can point back to a page.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" y="3730752"/>
            <a:ext cx="182880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1">
                <a:solidFill>
                  <a:srgbClr val="A84232"/>
                </a:solidFill>
                <a:latin typeface="Aptos"/>
              </a:rPr>
              <a:t>Rejected early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" y="4096512"/>
            <a:ext cx="4983480" cy="1389888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102C32"/>
                </a:solidFill>
                <a:latin typeface="Aptos"/>
              </a:defRPr>
            </a:pPr>
            <a:r>
              <a:t>• Unsupported extensions or content types</a:t>
            </a:r>
          </a:p>
          <a:p>
            <a:pPr>
              <a:spcAft>
                <a:spcPts val="800"/>
              </a:spcAft>
              <a:defRPr sz="1500">
                <a:solidFill>
                  <a:srgbClr val="102C32"/>
                </a:solidFill>
                <a:latin typeface="Aptos"/>
              </a:defRPr>
            </a:pPr>
            <a:r>
              <a:t>• Empty, corrupt or unreadable files</a:t>
            </a:r>
          </a:p>
          <a:p>
            <a:pPr>
              <a:spcAft>
                <a:spcPts val="800"/>
              </a:spcAft>
              <a:defRPr sz="1500">
                <a:solidFill>
                  <a:srgbClr val="102C32"/>
                </a:solidFill>
                <a:latin typeface="Aptos"/>
              </a:defRPr>
            </a:pPr>
            <a:r>
              <a:t>• Documents above 15 MB or more than 3 pages</a:t>
            </a:r>
          </a:p>
          <a:p>
            <a:pPr>
              <a:spcAft>
                <a:spcPts val="800"/>
              </a:spcAft>
              <a:defRPr sz="1500">
                <a:solidFill>
                  <a:srgbClr val="102C32"/>
                </a:solidFill>
                <a:latin typeface="Aptos"/>
              </a:defRPr>
            </a:pPr>
            <a:r>
              <a:t>• Invalid PDF/image content before OCR begins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65392" y="3730752"/>
            <a:ext cx="274320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1">
                <a:solidFill>
                  <a:srgbClr val="0F766E"/>
                </a:solidFill>
                <a:latin typeface="Aptos"/>
              </a:rPr>
              <a:t>Supported upload contract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65392" y="4096512"/>
            <a:ext cx="4709160" cy="1463040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>
              <a:spcAft>
                <a:spcPts val="224"/>
              </a:spcAft>
              <a:defRPr sz="1500">
                <a:solidFill>
                  <a:srgbClr val="102C32"/>
                </a:solidFill>
                <a:latin typeface="Aptos"/>
              </a:defRPr>
            </a:pPr>
            <a:r>
              <a:t>PDF  |  JPG / JPEG  |  PNG</a:t>
            </a:r>
          </a:p>
          <a:p>
            <a:pPr>
              <a:spcAft>
                <a:spcPts val="224"/>
              </a:spcAft>
              <a:defRPr sz="1500">
                <a:solidFill>
                  <a:srgbClr val="102C32"/>
                </a:solidFill>
                <a:latin typeface="Aptos"/>
              </a:defRPr>
            </a:pPr>
            <a:r>
              <a:t>Maximum 3 pages  |  Maximum 15 MB</a:t>
            </a:r>
          </a:p>
          <a:p>
            <a:pPr>
              <a:spcAft>
                <a:spcPts val="224"/>
              </a:spcAft>
              <a:defRPr sz="1500">
                <a:solidFill>
                  <a:srgbClr val="102C32"/>
                </a:solidFill>
                <a:latin typeface="Aptos"/>
              </a:defRPr>
            </a:pPr>
            <a:r>
              <a:t>Processing states: PROCESSING -&gt; PASS / FAILED</a:t>
            </a:r>
          </a:p>
          <a:p>
            <a:pPr>
              <a:spcAft>
                <a:spcPts val="224"/>
              </a:spcAft>
              <a:defRPr sz="1500">
                <a:solidFill>
                  <a:srgbClr val="102C32"/>
                </a:solidFill>
                <a:latin typeface="Aptos"/>
              </a:defRPr>
            </a:pPr>
            <a:r>
              <a:t>Page number and source snippet per extracted field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47472"/>
            <a:ext cx="50292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00" b="1">
                <a:solidFill>
                  <a:srgbClr val="0F766E"/>
                </a:solidFill>
                <a:latin typeface="Aptos"/>
              </a:rPr>
              <a:t>CURRENT GEMINI IMPLEMENTATION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40080"/>
            <a:ext cx="10607040" cy="47548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700" b="1">
                <a:solidFill>
                  <a:srgbClr val="102C32"/>
                </a:solidFill>
                <a:latin typeface="Aptos"/>
              </a:rPr>
              <a:t>Evidence-backed AI extraction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41080" y="6428232"/>
            <a:ext cx="292608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1">
                <a:solidFill>
                  <a:srgbClr val="66767A"/>
                </a:solidFill>
                <a:latin typeface="Aptos"/>
              </a:rPr>
              <a:t>05  |  DOCUMENT INTELLIGENCE PLATFORM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307592"/>
            <a:ext cx="10972800" cy="13716"/>
          </a:xfrm>
          <a:prstGeom prst="rect">
            <a:avLst/>
          </a:prstGeom>
          <a:solidFill>
            <a:srgbClr val="D6E1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572768"/>
            <a:ext cx="10424160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600" b="0">
                <a:solidFill>
                  <a:srgbClr val="66767A"/>
                </a:solidFill>
                <a:latin typeface="Aptos"/>
              </a:rPr>
              <a:t>The model is used for reading and structuring the document, not for inventing accounting data.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148840"/>
            <a:ext cx="3429000" cy="196596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6E1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2148840"/>
            <a:ext cx="54864" cy="196596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59" y="2313432"/>
            <a:ext cx="310896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1">
                <a:solidFill>
                  <a:srgbClr val="102C32"/>
                </a:solidFill>
                <a:latin typeface="Aptos"/>
              </a:rPr>
              <a:t>Structured contract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2670048"/>
            <a:ext cx="3108960" cy="1325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0">
                <a:solidFill>
                  <a:srgbClr val="66767A"/>
                </a:solidFill>
                <a:latin typeface="Aptos"/>
              </a:rPr>
              <a:t>google-genai SDK with a stable extracted_data envelope, line items, evidence and confidence.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70832" y="2148840"/>
            <a:ext cx="3429000" cy="196596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6E1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70832" y="2148840"/>
            <a:ext cx="54864" cy="1965960"/>
          </a:xfrm>
          <a:prstGeom prst="rect">
            <a:avLst/>
          </a:prstGeom>
          <a:solidFill>
            <a:srgbClr val="C48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53712" y="2313432"/>
            <a:ext cx="310896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1">
                <a:solidFill>
                  <a:srgbClr val="102C32"/>
                </a:solidFill>
                <a:latin typeface="Aptos"/>
              </a:rPr>
              <a:t>Vision + text context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53712" y="2670048"/>
            <a:ext cx="3108960" cy="1325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0">
                <a:solidFill>
                  <a:srgbClr val="66767A"/>
                </a:solidFill>
                <a:latin typeface="Aptos"/>
              </a:rPr>
              <a:t>Normalized page images plus page-tagged OCR/text are supplied for layout-aware extraction.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01583" y="2148840"/>
            <a:ext cx="3429000" cy="196596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6E1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101583" y="2148840"/>
            <a:ext cx="54864" cy="196596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84463" y="2313432"/>
            <a:ext cx="310896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1">
                <a:solidFill>
                  <a:srgbClr val="102C32"/>
                </a:solidFill>
                <a:latin typeface="Aptos"/>
              </a:rPr>
              <a:t>Resilient responses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84463" y="2670048"/>
            <a:ext cx="3108960" cy="1325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0">
                <a:solidFill>
                  <a:srgbClr val="66767A"/>
                </a:solidFill>
                <a:latin typeface="Aptos"/>
              </a:rPr>
              <a:t>Handles current response variants, empty output, JSON fences, retry and model fallback.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4590288"/>
            <a:ext cx="137160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1">
                <a:solidFill>
                  <a:srgbClr val="0F766E"/>
                </a:solidFill>
                <a:latin typeface="Aptos"/>
              </a:rPr>
              <a:t>Guardrails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" y="4937760"/>
            <a:ext cx="10287000" cy="1051560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102C32"/>
                </a:solidFill>
                <a:latin typeface="Aptos"/>
              </a:defRPr>
            </a:pPr>
            <a:r>
              <a:t>• Missing or unreadable values return null.</a:t>
            </a:r>
          </a:p>
          <a:p>
            <a:pPr>
              <a:spcAft>
                <a:spcPts val="800"/>
              </a:spcAft>
              <a:defRPr sz="1500">
                <a:solidFill>
                  <a:srgbClr val="102C32"/>
                </a:solidFill>
                <a:latin typeface="Aptos"/>
              </a:defRPr>
            </a:pPr>
            <a:r>
              <a:t>• Evidence includes source_text and page_number.</a:t>
            </a:r>
          </a:p>
          <a:p>
            <a:pPr>
              <a:spcAft>
                <a:spcPts val="800"/>
              </a:spcAft>
              <a:defRPr sz="1500">
                <a:solidFill>
                  <a:srgbClr val="102C32"/>
                </a:solidFill>
                <a:latin typeface="Aptos"/>
              </a:defRPr>
            </a:pPr>
            <a:r>
              <a:t>• Comparative periods use explicit field__period keys.</a:t>
            </a:r>
          </a:p>
          <a:p>
            <a:pPr>
              <a:spcAft>
                <a:spcPts val="800"/>
              </a:spcAft>
              <a:defRPr sz="1500">
                <a:solidFill>
                  <a:srgbClr val="102C32"/>
                </a:solidFill>
                <a:latin typeface="Aptos"/>
              </a:defRPr>
            </a:pPr>
            <a:r>
              <a:t>• Runtime key is configured through GEMINI_API_KEY and never committed.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47472"/>
            <a:ext cx="50292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00" b="1">
                <a:solidFill>
                  <a:srgbClr val="0F766E"/>
                </a:solidFill>
                <a:latin typeface="Aptos"/>
              </a:rPr>
              <a:t>TRANSPARENT ARITHMETIC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40080"/>
            <a:ext cx="10607040" cy="47548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700" b="1">
                <a:solidFill>
                  <a:srgbClr val="102C32"/>
                </a:solidFill>
                <a:latin typeface="Aptos"/>
              </a:rPr>
              <a:t>Financial validation engine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41080" y="6428232"/>
            <a:ext cx="292608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1">
                <a:solidFill>
                  <a:srgbClr val="66767A"/>
                </a:solidFill>
                <a:latin typeface="Aptos"/>
              </a:rPr>
              <a:t>06  |  DOCUMENT INTELLIGENCE PLATFORM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307592"/>
            <a:ext cx="10972800" cy="13716"/>
          </a:xfrm>
          <a:prstGeom prst="rect">
            <a:avLst/>
          </a:prstGeom>
          <a:solidFill>
            <a:srgbClr val="D6E1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572768"/>
            <a:ext cx="10607040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600" b="0">
                <a:solidFill>
                  <a:srgbClr val="66767A"/>
                </a:solidFill>
                <a:latin typeface="Aptos"/>
              </a:rPr>
              <a:t>Each check records its operands, formula, calculated value, reported value, variance and status.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148840"/>
            <a:ext cx="10881360" cy="65836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6E1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2148840"/>
            <a:ext cx="54864" cy="658368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59" y="2313432"/>
            <a:ext cx="1056132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1">
                <a:solidFill>
                  <a:srgbClr val="102C32"/>
                </a:solidFill>
                <a:latin typeface="Aptos"/>
              </a:rPr>
              <a:t>Invoice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2670048"/>
            <a:ext cx="10561320" cy="1828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0">
                <a:solidFill>
                  <a:srgbClr val="66767A"/>
                </a:solidFill>
                <a:latin typeface="Aptos"/>
              </a:rPr>
              <a:t>subtotal + tax - discount = total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2953512"/>
            <a:ext cx="10881360" cy="65836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6E1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0080" y="2953512"/>
            <a:ext cx="54864" cy="658368"/>
          </a:xfrm>
          <a:prstGeom prst="rect">
            <a:avLst/>
          </a:prstGeom>
          <a:solidFill>
            <a:srgbClr val="C48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59" y="3118104"/>
            <a:ext cx="1056132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1">
                <a:solidFill>
                  <a:srgbClr val="102C32"/>
                </a:solidFill>
                <a:latin typeface="Aptos"/>
              </a:rPr>
              <a:t>Balance sheet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59" y="3474720"/>
            <a:ext cx="10561320" cy="1828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0">
                <a:solidFill>
                  <a:srgbClr val="66767A"/>
                </a:solidFill>
                <a:latin typeface="Aptos"/>
              </a:rPr>
              <a:t>liabilities + equity = assets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58184"/>
            <a:ext cx="10881360" cy="65836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6E1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" y="3758184"/>
            <a:ext cx="54864" cy="658368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59" y="3922776"/>
            <a:ext cx="1056132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1">
                <a:solidFill>
                  <a:srgbClr val="102C32"/>
                </a:solidFill>
                <a:latin typeface="Aptos"/>
              </a:rPr>
              <a:t>Profit and loss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59" y="4279392"/>
            <a:ext cx="10561320" cy="1828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0">
                <a:solidFill>
                  <a:srgbClr val="66767A"/>
                </a:solidFill>
                <a:latin typeface="Aptos"/>
              </a:rPr>
              <a:t>revenue - cost of sales = gross profit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4562856"/>
            <a:ext cx="10881360" cy="65836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6E1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40080" y="4562856"/>
            <a:ext cx="54864" cy="658368"/>
          </a:xfrm>
          <a:prstGeom prst="rect">
            <a:avLst/>
          </a:prstGeom>
          <a:solidFill>
            <a:srgbClr val="C48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59" y="4727448"/>
            <a:ext cx="1056132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1">
                <a:solidFill>
                  <a:srgbClr val="102C32"/>
                </a:solidFill>
                <a:latin typeface="Aptos"/>
              </a:rPr>
              <a:t>Cash flow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59" y="5084064"/>
            <a:ext cx="10561320" cy="1828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0">
                <a:solidFill>
                  <a:srgbClr val="66767A"/>
                </a:solidFill>
                <a:latin typeface="Aptos"/>
              </a:rPr>
              <a:t>operating + investing + financing + FX = net change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5596128"/>
            <a:ext cx="1600200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1">
                <a:solidFill>
                  <a:srgbClr val="0F766E"/>
                </a:solidFill>
                <a:latin typeface="Aptos"/>
              </a:rPr>
              <a:t>Status policy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901952" y="5596128"/>
            <a:ext cx="9235440" cy="24688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0">
                <a:solidFill>
                  <a:srgbClr val="102C32"/>
                </a:solidFill>
                <a:latin typeface="Aptos"/>
              </a:rPr>
              <a:t>PASS within rounding tolerance  |  FAIL when operands disagree  |  NOT_APPLICABLE when inputs are missing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47472"/>
            <a:ext cx="50292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00" b="1">
                <a:solidFill>
                  <a:srgbClr val="0F766E"/>
                </a:solidFill>
                <a:latin typeface="Aptos"/>
              </a:rPr>
              <a:t>REVIEWABLE BY A HUMAN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40080"/>
            <a:ext cx="10607040" cy="47548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700" b="1">
                <a:solidFill>
                  <a:srgbClr val="102C32"/>
                </a:solidFill>
                <a:latin typeface="Aptos"/>
              </a:rPr>
              <a:t>Product experience and API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41080" y="6428232"/>
            <a:ext cx="292608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1">
                <a:solidFill>
                  <a:srgbClr val="66767A"/>
                </a:solidFill>
                <a:latin typeface="Aptos"/>
              </a:rPr>
              <a:t>07  |  DOCUMENT INTELLIGENCE PLATFORM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307592"/>
            <a:ext cx="10972800" cy="13716"/>
          </a:xfrm>
          <a:prstGeom prst="rect">
            <a:avLst/>
          </a:prstGeom>
          <a:solidFill>
            <a:srgbClr val="D6E1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" y="1691640"/>
            <a:ext cx="3429000" cy="1874519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6E1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691640"/>
            <a:ext cx="54864" cy="1874519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59" y="1856232"/>
            <a:ext cx="310896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1">
                <a:solidFill>
                  <a:srgbClr val="102C32"/>
                </a:solidFill>
                <a:latin typeface="Aptos"/>
              </a:rPr>
              <a:t>Ledger dashboard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59" y="2212848"/>
            <a:ext cx="3108960" cy="1234439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0">
                <a:solidFill>
                  <a:srgbClr val="66767A"/>
                </a:solidFill>
                <a:latin typeface="Aptos"/>
              </a:rPr>
              <a:t>Responsive upload workflow, search, filters, statistics and refresh control.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70832" y="1691640"/>
            <a:ext cx="3429000" cy="1874519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6E1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70832" y="1691640"/>
            <a:ext cx="54864" cy="1874519"/>
          </a:xfrm>
          <a:prstGeom prst="rect">
            <a:avLst/>
          </a:prstGeom>
          <a:solidFill>
            <a:srgbClr val="C48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53712" y="1856232"/>
            <a:ext cx="310896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1">
                <a:solidFill>
                  <a:srgbClr val="102C32"/>
                </a:solidFill>
                <a:latin typeface="Aptos"/>
              </a:rPr>
              <a:t>Document workspace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53712" y="2212848"/>
            <a:ext cx="3108960" cy="1234439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0">
                <a:solidFill>
                  <a:srgbClr val="66767A"/>
                </a:solidFill>
                <a:latin typeface="Aptos"/>
              </a:rPr>
              <a:t>Centered detail view with Fields, Validation and Raw JSON tabs; missing and low-confidence values are marked.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01583" y="1691640"/>
            <a:ext cx="3429000" cy="1874519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6E1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101583" y="1691640"/>
            <a:ext cx="54864" cy="1874519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84463" y="1856232"/>
            <a:ext cx="310896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1">
                <a:solidFill>
                  <a:srgbClr val="102C32"/>
                </a:solidFill>
                <a:latin typeface="Aptos"/>
              </a:rPr>
              <a:t>Async visibility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84463" y="2212848"/>
            <a:ext cx="3108960" cy="1234439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0">
                <a:solidFill>
                  <a:srgbClr val="66767A"/>
                </a:solidFill>
                <a:latin typeface="Aptos"/>
              </a:rPr>
              <a:t>POST returns a processing record; the browser polls until PASS or FAILED and shows the exact failure.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4069080"/>
            <a:ext cx="237744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1">
                <a:solidFill>
                  <a:srgbClr val="0F766E"/>
                </a:solidFill>
                <a:latin typeface="Aptos"/>
              </a:rPr>
              <a:t>Mandatory endpoints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" y="4434840"/>
            <a:ext cx="5760720" cy="1417320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>
              <a:spcAft>
                <a:spcPts val="224"/>
              </a:spcAft>
              <a:defRPr sz="1500">
                <a:solidFill>
                  <a:srgbClr val="102C32"/>
                </a:solidFill>
                <a:latin typeface="Aptos"/>
              </a:defRPr>
            </a:pPr>
            <a:r>
              <a:t>POST  /api/v1/documents/process</a:t>
            </a:r>
          </a:p>
          <a:p>
            <a:pPr>
              <a:spcAft>
                <a:spcPts val="224"/>
              </a:spcAft>
              <a:defRPr sz="1500">
                <a:solidFill>
                  <a:srgbClr val="102C32"/>
                </a:solidFill>
                <a:latin typeface="Aptos"/>
              </a:defRPr>
            </a:pPr>
            <a:r>
              <a:t>GET   /api/v1/documents/{document_name}</a:t>
            </a:r>
          </a:p>
          <a:p>
            <a:pPr>
              <a:spcAft>
                <a:spcPts val="224"/>
              </a:spcAft>
              <a:defRPr sz="1500">
                <a:solidFill>
                  <a:srgbClr val="102C32"/>
                </a:solidFill>
                <a:latin typeface="Aptos"/>
              </a:defRPr>
            </a:pPr>
            <a:r>
              <a:t>GET   /api/v1/documents</a:t>
            </a:r>
          </a:p>
          <a:p>
            <a:pPr>
              <a:spcAft>
                <a:spcPts val="224"/>
              </a:spcAft>
              <a:defRPr sz="1500">
                <a:solidFill>
                  <a:srgbClr val="102C32"/>
                </a:solidFill>
                <a:latin typeface="Aptos"/>
              </a:defRPr>
            </a:pPr>
            <a:r>
              <a:t>GET   /api/v1/health</a:t>
            </a:r>
          </a:p>
          <a:p>
            <a:pPr>
              <a:spcAft>
                <a:spcPts val="224"/>
              </a:spcAft>
              <a:defRPr sz="1500">
                <a:solidFill>
                  <a:srgbClr val="102C32"/>
                </a:solidFill>
                <a:latin typeface="Aptos"/>
              </a:defRPr>
            </a:pPr>
            <a:r>
              <a:t>GET   /docs  and  /redoc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01583" y="4069080"/>
            <a:ext cx="256032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1">
                <a:solidFill>
                  <a:srgbClr val="0F766E"/>
                </a:solidFill>
                <a:latin typeface="Aptos"/>
              </a:rPr>
              <a:t>One response model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19872" y="4434840"/>
            <a:ext cx="3310128" cy="11704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500" b="0">
                <a:solidFill>
                  <a:srgbClr val="102C32"/>
                </a:solidFill>
                <a:latin typeface="Aptos"/>
              </a:rPr>
              <a:t>The API and UI share the same persisted document, extracted fields, line items, validation checks and raw JSON.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47472"/>
            <a:ext cx="50292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00" b="1">
                <a:solidFill>
                  <a:srgbClr val="0F766E"/>
                </a:solidFill>
                <a:latin typeface="Aptos"/>
              </a:rPr>
              <a:t>EVIDENCE OF COMPLETION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40080"/>
            <a:ext cx="10607040" cy="47548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700" b="1">
                <a:solidFill>
                  <a:srgbClr val="102C32"/>
                </a:solidFill>
                <a:latin typeface="Aptos"/>
              </a:rPr>
              <a:t>Verification and deployment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41080" y="6428232"/>
            <a:ext cx="292608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1">
                <a:solidFill>
                  <a:srgbClr val="66767A"/>
                </a:solidFill>
                <a:latin typeface="Aptos"/>
              </a:rPr>
              <a:t>08  |  DOCUMENT INTELLIGENCE PLATFORM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307592"/>
            <a:ext cx="10972800" cy="13716"/>
          </a:xfrm>
          <a:prstGeom prst="rect">
            <a:avLst/>
          </a:prstGeom>
          <a:solidFill>
            <a:srgbClr val="D6E1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" y="1737360"/>
            <a:ext cx="2468880" cy="102412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6E1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1" y="1892807"/>
            <a:ext cx="2194560" cy="3657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500" b="1">
                <a:solidFill>
                  <a:srgbClr val="0F766E"/>
                </a:solidFill>
                <a:latin typeface="Aptos"/>
              </a:rPr>
              <a:t>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1" y="2359152"/>
            <a:ext cx="2194560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66767A"/>
                </a:solidFill>
                <a:latin typeface="Aptos"/>
              </a:rPr>
              <a:t>AUTOMATED TESTS PASS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383280" y="1737360"/>
            <a:ext cx="2468880" cy="102412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6E1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547872" y="1892807"/>
            <a:ext cx="2194560" cy="3657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500" b="1">
                <a:solidFill>
                  <a:srgbClr val="C48A38"/>
                </a:solidFill>
                <a:latin typeface="Aptos"/>
              </a:rPr>
              <a:t>43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47872" y="2359152"/>
            <a:ext cx="2194560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66767A"/>
                </a:solidFill>
                <a:latin typeface="Aptos"/>
              </a:rPr>
              <a:t>LIVE FIELDS EXTRACTED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26480" y="1737360"/>
            <a:ext cx="2468880" cy="102412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6E1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91072" y="1892807"/>
            <a:ext cx="2194560" cy="3657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500" b="1">
                <a:solidFill>
                  <a:srgbClr val="0F766E"/>
                </a:solidFill>
                <a:latin typeface="Aptos"/>
              </a:rPr>
              <a:t>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91072" y="2359152"/>
            <a:ext cx="2194560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66767A"/>
                </a:solidFill>
                <a:latin typeface="Aptos"/>
              </a:rPr>
              <a:t>LIVE LINE ITEMS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869680" y="1737360"/>
            <a:ext cx="2651760" cy="102412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6E1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034272" y="1892807"/>
            <a:ext cx="2377440" cy="3657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500" b="1">
                <a:solidFill>
                  <a:srgbClr val="C48A38"/>
                </a:solidFill>
                <a:latin typeface="Aptos"/>
              </a:rPr>
              <a:t>PASS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34272" y="2359152"/>
            <a:ext cx="2377440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66767A"/>
                </a:solidFill>
                <a:latin typeface="Aptos"/>
              </a:rPr>
              <a:t>FRESH LIVE INVOICE TEST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3246120"/>
            <a:ext cx="201168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1">
                <a:solidFill>
                  <a:srgbClr val="0F766E"/>
                </a:solidFill>
                <a:latin typeface="Aptos"/>
              </a:rPr>
              <a:t>Deployment checks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" y="3611880"/>
            <a:ext cx="6629400" cy="1874519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102C32"/>
                </a:solidFill>
                <a:latin typeface="Aptos"/>
              </a:defRPr>
            </a:pPr>
            <a:r>
              <a:t>• Public Render frontend is live.</a:t>
            </a:r>
          </a:p>
          <a:p>
            <a:pPr>
              <a:spcAft>
                <a:spcPts val="800"/>
              </a:spcAft>
              <a:defRPr sz="1500">
                <a:solidFill>
                  <a:srgbClr val="102C32"/>
                </a:solidFill>
                <a:latin typeface="Aptos"/>
              </a:defRPr>
            </a:pPr>
            <a:r>
              <a:t>• /api/v1/health reports service status and Gemini configuration.</a:t>
            </a:r>
          </a:p>
          <a:p>
            <a:pPr>
              <a:spcAft>
                <a:spcPts val="800"/>
              </a:spcAft>
              <a:defRPr sz="1500">
                <a:solidFill>
                  <a:srgbClr val="102C32"/>
                </a:solidFill>
                <a:latin typeface="Aptos"/>
              </a:defRPr>
            </a:pPr>
            <a:r>
              <a:t>• Swagger/OpenAPI is available at /docs.</a:t>
            </a:r>
          </a:p>
          <a:p>
            <a:pPr>
              <a:spcAft>
                <a:spcPts val="800"/>
              </a:spcAft>
              <a:defRPr sz="1500">
                <a:solidFill>
                  <a:srgbClr val="102C32"/>
                </a:solidFill>
                <a:latin typeface="Aptos"/>
              </a:defRPr>
            </a:pPr>
            <a:r>
              <a:t>• Fresh live invoice verification returned file validation PASS and processing PASS.</a:t>
            </a:r>
          </a:p>
          <a:p>
            <a:pPr>
              <a:spcAft>
                <a:spcPts val="800"/>
              </a:spcAft>
              <a:defRPr sz="1500">
                <a:solidFill>
                  <a:srgbClr val="102C32"/>
                </a:solidFill>
                <a:latin typeface="Aptos"/>
              </a:defRPr>
            </a:pPr>
            <a:r>
              <a:t>• Sample JSON fixtures cover all four document types and failure paths.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0" y="3246120"/>
            <a:ext cx="137160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1">
                <a:solidFill>
                  <a:srgbClr val="0F766E"/>
                </a:solidFill>
                <a:latin typeface="Aptos"/>
              </a:rPr>
              <a:t>Repository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12480" y="3611880"/>
            <a:ext cx="2743200" cy="6583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500" b="1">
                <a:solidFill>
                  <a:srgbClr val="102C32"/>
                </a:solidFill>
                <a:latin typeface="Aptos"/>
              </a:rPr>
              <a:t>github.com/SakthiPriyaR/
document-intelligence-platform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12480" y="4645152"/>
            <a:ext cx="2743200" cy="6583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0">
                <a:solidFill>
                  <a:srgbClr val="66767A"/>
                </a:solidFill>
                <a:latin typeface="Aptos"/>
              </a:rPr>
              <a:t>No secrets committed; runtime key is supplied by the deployment environment.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47472"/>
            <a:ext cx="50292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00" b="1">
                <a:solidFill>
                  <a:srgbClr val="0F766E"/>
                </a:solidFill>
                <a:latin typeface="Aptos"/>
              </a:rPr>
              <a:t>READY TO SUBMIT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40080"/>
            <a:ext cx="10607040" cy="47548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700" b="1">
                <a:solidFill>
                  <a:srgbClr val="102C32"/>
                </a:solidFill>
                <a:latin typeface="Aptos"/>
              </a:rPr>
              <a:t>Deployment and submission links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41080" y="6428232"/>
            <a:ext cx="292608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1">
                <a:solidFill>
                  <a:srgbClr val="66767A"/>
                </a:solidFill>
                <a:latin typeface="Aptos"/>
              </a:rPr>
              <a:t>09  |  DOCUMENT INTELLIGENCE PLATFORM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307592"/>
            <a:ext cx="10972800" cy="13716"/>
          </a:xfrm>
          <a:prstGeom prst="rect">
            <a:avLst/>
          </a:prstGeom>
          <a:solidFill>
            <a:srgbClr val="D6E1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572768"/>
            <a:ext cx="10607040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600" b="0">
                <a:solidFill>
                  <a:srgbClr val="66767A"/>
                </a:solidFill>
                <a:latin typeface="Aptos"/>
              </a:rPr>
              <a:t>Use these live links in the internship submission form and during your presentation.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084831"/>
            <a:ext cx="5212080" cy="114300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6E1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2084831"/>
            <a:ext cx="54864" cy="11430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59" y="2249424"/>
            <a:ext cx="48920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1">
                <a:solidFill>
                  <a:srgbClr val="102C32"/>
                </a:solidFill>
                <a:latin typeface="Aptos"/>
              </a:rPr>
              <a:t>Deployed Backend API base URL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2606039"/>
            <a:ext cx="489204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0">
                <a:solidFill>
                  <a:srgbClr val="66767A"/>
                </a:solidFill>
                <a:latin typeface="Aptos"/>
              </a:rPr>
              <a:t>https://document-intelligence-platform-kace.onrender.com/api/v1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798064"/>
            <a:ext cx="201168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0F766E"/>
                </a:solidFill>
                <a:latin typeface="Aptos"/>
                <a:hlinkClick r:id="rId2"/>
              </a:rPr>
              <a:t>Open API base URL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44768" y="2084831"/>
            <a:ext cx="5376672" cy="114300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6E1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44768" y="2084831"/>
            <a:ext cx="54864" cy="1143000"/>
          </a:xfrm>
          <a:prstGeom prst="rect">
            <a:avLst/>
          </a:prstGeom>
          <a:solidFill>
            <a:srgbClr val="C48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27648" y="2249424"/>
            <a:ext cx="5056632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1">
                <a:solidFill>
                  <a:srgbClr val="102C32"/>
                </a:solidFill>
                <a:latin typeface="Aptos"/>
              </a:rPr>
              <a:t>Deployed Frontend URL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27648" y="2606039"/>
            <a:ext cx="5056632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0">
                <a:solidFill>
                  <a:srgbClr val="66767A"/>
                </a:solidFill>
                <a:latin typeface="Aptos"/>
              </a:rPr>
              <a:t>https://document-intelligence-platform-kace.onrender.com/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73368" y="2798064"/>
            <a:ext cx="201168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0F766E"/>
                </a:solidFill>
                <a:latin typeface="Aptos"/>
                <a:hlinkClick r:id="rId3"/>
              </a:rPr>
              <a:t>Open live frontend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456432"/>
            <a:ext cx="5212080" cy="114300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6E1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0080" y="3456432"/>
            <a:ext cx="54864" cy="11430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59" y="3621024"/>
            <a:ext cx="48920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1">
                <a:solidFill>
                  <a:srgbClr val="102C32"/>
                </a:solidFill>
                <a:latin typeface="Aptos"/>
              </a:rPr>
              <a:t>Deployment platform used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59" y="3977639"/>
            <a:ext cx="489204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0">
                <a:solidFill>
                  <a:srgbClr val="66767A"/>
                </a:solidFill>
                <a:latin typeface="Aptos"/>
              </a:rPr>
              <a:t>Render - Docker web service on the Free plan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44768" y="3456432"/>
            <a:ext cx="5376672" cy="114300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6E1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44768" y="3456432"/>
            <a:ext cx="54864" cy="1143000"/>
          </a:xfrm>
          <a:prstGeom prst="rect">
            <a:avLst/>
          </a:prstGeom>
          <a:solidFill>
            <a:srgbClr val="C48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27648" y="3621024"/>
            <a:ext cx="5056632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1">
                <a:solidFill>
                  <a:srgbClr val="102C32"/>
                </a:solidFill>
                <a:latin typeface="Aptos"/>
              </a:rPr>
              <a:t>Public GitHub repository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27648" y="3977639"/>
            <a:ext cx="5056632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0">
                <a:solidFill>
                  <a:srgbClr val="66767A"/>
                </a:solidFill>
                <a:latin typeface="Aptos"/>
              </a:rPr>
              <a:t>github.com/SakthiPriyaR/document-intelligence-platform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73368" y="4169663"/>
            <a:ext cx="256032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0F766E"/>
                </a:solidFill>
                <a:latin typeface="Aptos"/>
                <a:hlinkClick r:id="rId4"/>
              </a:rPr>
              <a:t>Open public repository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" y="5148072"/>
            <a:ext cx="1371600" cy="23774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1">
                <a:solidFill>
                  <a:srgbClr val="0F766E"/>
                </a:solidFill>
                <a:latin typeface="Aptos"/>
              </a:rPr>
              <a:t>PPT sharing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8368" y="5504688"/>
            <a:ext cx="4206240" cy="23774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0F766E"/>
                </a:solidFill>
                <a:latin typeface="Aptos"/>
                <a:hlinkClick r:id="rId5"/>
              </a:rPr>
              <a:t>Download the version-controlled PPTX from GitHub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102352" y="5413248"/>
            <a:ext cx="608076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0">
                <a:solidFill>
                  <a:srgbClr val="102C32"/>
                </a:solidFill>
                <a:latin typeface="Aptos"/>
              </a:rPr>
              <a:t>Google Drive submission: upload this PPTX to your Drive, set General access to 'Anyone with the link - Viewer', then paste that share URL into the form.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47472"/>
            <a:ext cx="50292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00" b="1">
                <a:solidFill>
                  <a:srgbClr val="0F766E"/>
                </a:solidFill>
                <a:latin typeface="Aptos"/>
              </a:rPr>
              <a:t>WHAT CHANGES BEYOND EVALUATION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40080"/>
            <a:ext cx="10607040" cy="47548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700" b="1">
                <a:solidFill>
                  <a:srgbClr val="102C32"/>
                </a:solidFill>
                <a:latin typeface="Aptos"/>
              </a:rPr>
              <a:t>Limitations and production plan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41080" y="6428232"/>
            <a:ext cx="292608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1">
                <a:solidFill>
                  <a:srgbClr val="66767A"/>
                </a:solidFill>
                <a:latin typeface="Aptos"/>
              </a:rPr>
              <a:t>10  |  DOCUMENT INTELLIGENCE PLATFORM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307592"/>
            <a:ext cx="10972800" cy="13716"/>
          </a:xfrm>
          <a:prstGeom prst="rect">
            <a:avLst/>
          </a:prstGeom>
          <a:solidFill>
            <a:srgbClr val="D6E1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572768"/>
            <a:ext cx="10332720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600" b="0">
                <a:solidFill>
                  <a:srgbClr val="66767A"/>
                </a:solidFill>
                <a:latin typeface="Aptos"/>
              </a:rPr>
              <a:t>The evaluation deployment is intentionally small; the seams for production hardening are explicit.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148840"/>
            <a:ext cx="5166360" cy="242316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6E1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2148840"/>
            <a:ext cx="54864" cy="2423160"/>
          </a:xfrm>
          <a:prstGeom prst="rect">
            <a:avLst/>
          </a:prstGeom>
          <a:solidFill>
            <a:srgbClr val="A842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59" y="2313432"/>
            <a:ext cx="484632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1">
                <a:solidFill>
                  <a:srgbClr val="102C32"/>
                </a:solidFill>
                <a:latin typeface="Aptos"/>
              </a:rPr>
              <a:t>Current limitations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2670048"/>
            <a:ext cx="4846320" cy="17830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0">
                <a:solidFill>
                  <a:srgbClr val="66767A"/>
                </a:solidFill>
                <a:latin typeface="Aptos"/>
              </a:rPr>
              <a:t>Render Free local SQLite storage is ephemeral.
No authentication or rate limiting.
Large dense documents may need chunked extraction.
Model confidence is not independently calibrated.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26480" y="2148840"/>
            <a:ext cx="5394960" cy="242316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6E1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126480" y="2148840"/>
            <a:ext cx="54864" cy="242316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09360" y="2313432"/>
            <a:ext cx="507492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1">
                <a:solidFill>
                  <a:srgbClr val="102C32"/>
                </a:solidFill>
                <a:latin typeface="Aptos"/>
              </a:rPr>
              <a:t>Production changes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09360" y="2670048"/>
            <a:ext cx="5074920" cy="17830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0">
                <a:solidFill>
                  <a:srgbClr val="66767A"/>
                </a:solidFill>
                <a:latin typeface="Aptos"/>
              </a:rPr>
              <a:t>Managed Postgres and object storage.
Durable worker queue and observability.
Authentication, tenant isolation and quotas.
Golden-document evaluations and reconciliation expansion.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5138928"/>
            <a:ext cx="237744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1">
                <a:solidFill>
                  <a:srgbClr val="C48A38"/>
                </a:solidFill>
                <a:latin typeface="Aptos"/>
              </a:rPr>
              <a:t>Important distinction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" y="5486400"/>
            <a:ext cx="10332720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600" b="0">
                <a:solidFill>
                  <a:srgbClr val="102C32"/>
                </a:solidFill>
                <a:latin typeface="Aptos"/>
              </a:rPr>
              <a:t>The current live extraction flow works; durable history requires a persistent database plan.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47472"/>
            <a:ext cx="50292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00" b="1">
                <a:solidFill>
                  <a:srgbClr val="0F766E"/>
                </a:solidFill>
                <a:latin typeface="Aptos"/>
              </a:rPr>
              <a:t>TRANSPARENT ENGINEERING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40080"/>
            <a:ext cx="10607040" cy="47548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700" b="1">
                <a:solidFill>
                  <a:srgbClr val="102C32"/>
                </a:solidFill>
                <a:latin typeface="Aptos"/>
              </a:rPr>
              <a:t>AI usage and submission deliverables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41080" y="6428232"/>
            <a:ext cx="292608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1">
                <a:solidFill>
                  <a:srgbClr val="66767A"/>
                </a:solidFill>
                <a:latin typeface="Aptos"/>
              </a:rPr>
              <a:t>11  |  DOCUMENT INTELLIGENCE PLATFORM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307592"/>
            <a:ext cx="10972800" cy="13716"/>
          </a:xfrm>
          <a:prstGeom prst="rect">
            <a:avLst/>
          </a:prstGeom>
          <a:solidFill>
            <a:srgbClr val="D6E1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" y="1691640"/>
            <a:ext cx="5166360" cy="297180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6E1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691640"/>
            <a:ext cx="54864" cy="29718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59" y="1856232"/>
            <a:ext cx="484632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1">
                <a:solidFill>
                  <a:srgbClr val="102C32"/>
                </a:solidFill>
                <a:latin typeface="Aptos"/>
              </a:rPr>
              <a:t>AI usage declaration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59" y="2212848"/>
            <a:ext cx="4846320" cy="23317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0">
                <a:solidFill>
                  <a:srgbClr val="66767A"/>
                </a:solidFill>
                <a:latin typeface="Aptos"/>
              </a:rPr>
              <a:t>An AI coding assistant supported the initial scaffold, service boundaries, validation engine, frontend, tests, documentation and this presentation.
The source was reviewed and locally test-verified. Gemini is used at runtime only for evidence-backed field extraction after explicit configuration.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26480" y="1691640"/>
            <a:ext cx="5394960" cy="297180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6E1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126480" y="1691640"/>
            <a:ext cx="54864" cy="2971800"/>
          </a:xfrm>
          <a:prstGeom prst="rect">
            <a:avLst/>
          </a:prstGeom>
          <a:solidFill>
            <a:srgbClr val="C48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09360" y="1856232"/>
            <a:ext cx="507492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1">
                <a:solidFill>
                  <a:srgbClr val="102C32"/>
                </a:solidFill>
                <a:latin typeface="Aptos"/>
              </a:rPr>
              <a:t>Included in the repository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09360" y="2212848"/>
            <a:ext cx="5074920" cy="23317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0">
                <a:solidFill>
                  <a:srgbClr val="66767A"/>
                </a:solidFill>
                <a:latin typeface="Aptos"/>
              </a:rPr>
              <a:t>Public GitHub source
Live frontend, API and Swagger
README with setup and limitations
Architecture source plus PNG/PDF exports
This solution presentation in PPTX/PDF/Markdown
Sample fixtures and automated tests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321808"/>
            <a:ext cx="2194560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500" b="1">
                <a:solidFill>
                  <a:srgbClr val="0F766E"/>
                </a:solidFill>
                <a:latin typeface="Aptos"/>
              </a:rPr>
              <a:t>Thank you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5806440"/>
            <a:ext cx="6949440" cy="24688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0">
                <a:solidFill>
                  <a:srgbClr val="102C32"/>
                </a:solidFill>
                <a:latin typeface="Aptos"/>
              </a:rPr>
              <a:t>Live app: document-intelligence-platform-kace.onrender.com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47472"/>
            <a:ext cx="50292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00" b="1">
                <a:solidFill>
                  <a:srgbClr val="0F766E"/>
                </a:solidFill>
                <a:latin typeface="Aptos"/>
              </a:rPr>
              <a:t>SIX-MINUTE WALKTHROUGH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40080"/>
            <a:ext cx="10607040" cy="47548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700" b="1">
                <a:solidFill>
                  <a:srgbClr val="102C32"/>
                </a:solidFill>
                <a:latin typeface="Aptos"/>
              </a:rPr>
              <a:t>How to present the live demo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41080" y="6428232"/>
            <a:ext cx="292608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1">
                <a:solidFill>
                  <a:srgbClr val="66767A"/>
                </a:solidFill>
                <a:latin typeface="Aptos"/>
              </a:rPr>
              <a:t>12  |  DOCUMENT INTELLIGENCE PLATFORM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307592"/>
            <a:ext cx="10972800" cy="13716"/>
          </a:xfrm>
          <a:prstGeom prst="rect">
            <a:avLst/>
          </a:prstGeom>
          <a:solidFill>
            <a:srgbClr val="D6E1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658368" y="1572768"/>
            <a:ext cx="438912" cy="438912"/>
          </a:xfrm>
          <a:prstGeom prst="ellipse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1682495"/>
            <a:ext cx="438912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ptos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80160" y="1600200"/>
            <a:ext cx="379476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1">
                <a:solidFill>
                  <a:srgbClr val="102C32"/>
                </a:solidFill>
                <a:latin typeface="Aptos"/>
              </a:rPr>
              <a:t>Open the live Ledger dashboard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20640" y="1600200"/>
            <a:ext cx="6080760" cy="3474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0">
                <a:solidFill>
                  <a:srgbClr val="66767A"/>
                </a:solidFill>
                <a:latin typeface="Aptos"/>
              </a:rPr>
              <a:t>State the problem: financial documents are unstructured and hard to review.</a:t>
            </a:r>
          </a:p>
        </p:txBody>
      </p:sp>
      <p:sp>
        <p:nvSpPr>
          <p:cNvPr id="10" name="Oval 9"/>
          <p:cNvSpPr/>
          <p:nvPr/>
        </p:nvSpPr>
        <p:spPr>
          <a:xfrm>
            <a:off x="658368" y="2377440"/>
            <a:ext cx="438912" cy="438912"/>
          </a:xfrm>
          <a:prstGeom prst="ellipse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" y="2487168"/>
            <a:ext cx="438912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ptos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80160" y="2404872"/>
            <a:ext cx="379476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1">
                <a:solidFill>
                  <a:srgbClr val="102C32"/>
                </a:solidFill>
                <a:latin typeface="Aptos"/>
              </a:rPr>
              <a:t>Choose a document type and upload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20640" y="2404872"/>
            <a:ext cx="6080760" cy="3474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0">
                <a:solidFill>
                  <a:srgbClr val="66767A"/>
                </a:solidFill>
                <a:latin typeface="Aptos"/>
              </a:rPr>
              <a:t>Point out PDF/JPG/PNG support, page limit and validation before AI.</a:t>
            </a:r>
          </a:p>
        </p:txBody>
      </p:sp>
      <p:sp>
        <p:nvSpPr>
          <p:cNvPr id="14" name="Oval 13"/>
          <p:cNvSpPr/>
          <p:nvPr/>
        </p:nvSpPr>
        <p:spPr>
          <a:xfrm>
            <a:off x="658368" y="3182112"/>
            <a:ext cx="438912" cy="438912"/>
          </a:xfrm>
          <a:prstGeom prst="ellipse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3291840"/>
            <a:ext cx="438912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ptos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80160" y="3209544"/>
            <a:ext cx="379476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1">
                <a:solidFill>
                  <a:srgbClr val="102C32"/>
                </a:solidFill>
                <a:latin typeface="Aptos"/>
              </a:rPr>
              <a:t>Explain the processing path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20640" y="3209544"/>
            <a:ext cx="6080760" cy="3474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0">
                <a:solidFill>
                  <a:srgbClr val="66767A"/>
                </a:solidFill>
                <a:latin typeface="Aptos"/>
              </a:rPr>
              <a:t>Validation -&gt; OCR -&gt; Gemini extraction -&gt; financial reconciliation -&gt; persisted result.</a:t>
            </a:r>
          </a:p>
        </p:txBody>
      </p:sp>
      <p:sp>
        <p:nvSpPr>
          <p:cNvPr id="18" name="Oval 17"/>
          <p:cNvSpPr/>
          <p:nvPr/>
        </p:nvSpPr>
        <p:spPr>
          <a:xfrm>
            <a:off x="658368" y="3986784"/>
            <a:ext cx="438912" cy="438912"/>
          </a:xfrm>
          <a:prstGeom prst="ellipse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" y="4096512"/>
            <a:ext cx="438912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ptos"/>
              </a:rPr>
              <a:t>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80160" y="4014216"/>
            <a:ext cx="379476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1">
                <a:solidFill>
                  <a:srgbClr val="102C32"/>
                </a:solidFill>
                <a:latin typeface="Aptos"/>
              </a:rPr>
              <a:t>Open the processed document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20640" y="4014216"/>
            <a:ext cx="6080760" cy="3474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0">
                <a:solidFill>
                  <a:srgbClr val="66767A"/>
                </a:solidFill>
                <a:latin typeface="Aptos"/>
              </a:rPr>
              <a:t>Show fields, evidence, line items, validation checks and raw JSON.</a:t>
            </a:r>
          </a:p>
        </p:txBody>
      </p:sp>
      <p:sp>
        <p:nvSpPr>
          <p:cNvPr id="22" name="Oval 21"/>
          <p:cNvSpPr/>
          <p:nvPr/>
        </p:nvSpPr>
        <p:spPr>
          <a:xfrm>
            <a:off x="658368" y="4791456"/>
            <a:ext cx="438912" cy="438912"/>
          </a:xfrm>
          <a:prstGeom prst="ellipse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8368" y="4901184"/>
            <a:ext cx="438912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ptos"/>
              </a:rPr>
              <a:t>05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80160" y="4818888"/>
            <a:ext cx="379476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1">
                <a:solidFill>
                  <a:srgbClr val="102C32"/>
                </a:solidFill>
                <a:latin typeface="Aptos"/>
              </a:rPr>
              <a:t>Close with assurance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120640" y="4818888"/>
            <a:ext cx="6080760" cy="3474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0">
                <a:solidFill>
                  <a:srgbClr val="66767A"/>
                </a:solidFill>
                <a:latin typeface="Aptos"/>
              </a:rPr>
              <a:t>Mention live deployment, API docs, 25 tests, known limits and the production roadmap.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8368" y="5806440"/>
            <a:ext cx="987552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1">
                <a:solidFill>
                  <a:srgbClr val="C48A38"/>
                </a:solidFill>
                <a:latin typeface="Aptos"/>
              </a:rPr>
              <a:t>Tip: do the upload before your interview starts so the completed record is already available to open.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